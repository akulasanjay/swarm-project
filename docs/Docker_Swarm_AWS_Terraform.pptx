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5"/>
                </a:solidFill>
                <a:latin typeface="Arial"/>
              </a:rPr>
              <a:t>Worker Count by Load Scenario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</c:v>
                </c:pt>
              </c:strCache>
            </c:strRef>
          </c:tx>
          <c:spPr>
            <a:solidFill>
              <a:srgbClr val="0083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Idle</c:v>
                  </c:pt>
                  <c:pt idx="1">
                    <c:v>Normal Load</c:v>
                  </c:pt>
                  <c:pt idx="2">
                    <c:v>Medium Load</c:v>
                  </c:pt>
                  <c:pt idx="3">
                    <c:v>High Load</c:v>
                  </c:pt>
                  <c:pt idx="4">
                    <c:v>Peak Load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7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1" Type="http://schemas.openxmlformats.org/officeDocument/2006/relationships/chart" Target="..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669280" y="457200"/>
            <a:ext cx="29260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731520"/>
            <a:ext cx="201168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731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AWS with Terraform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container orchestration infrastructure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code — from VPC to DNS in a single apply.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343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Multi-Manager HA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76272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6272" y="4343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95344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95344" y="4343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Target Group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14416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14416" y="4343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+ Secrets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333488" y="43434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33488" y="43434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DNS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Swarm?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7830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 fundamentals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353312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49240" y="178308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Managers, Workers, VPC topology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87168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8716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60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 Structure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2990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Security, Manager, LB, Workers, DNS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87168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48716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560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49240" y="2990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&amp; Security Groups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94176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9417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7673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High Availability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0120" y="419709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ASG, CloudWatch alarms, Swarm quorum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94176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94176"/>
            <a:ext cx="50292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94176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7673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Walkthrough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49240" y="419709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terraform init to a running service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Docker Swarm?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539496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7043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 is Docker's native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and orchestration engine — turning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pool of Docker hosts into a single virtual system.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2651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2651760"/>
            <a:ext cx="77724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880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697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Nodes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8872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handle scheduling, maintain desired state, manage Raft consensus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846320" y="2651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2651760"/>
            <a:ext cx="77724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880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15000" y="2697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715000" y="3063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— run the actual service containers, report back to managers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3794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" y="3794760"/>
            <a:ext cx="77724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402336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840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Network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VXLAN-based mesh that spans all nodes for seamless container-to-container comms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846320" y="3794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3794760"/>
            <a:ext cx="777240" cy="9601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402336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715000" y="3840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715000" y="42062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desired-state model: replicas, rolling updates, rollback built in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5943600" y="1143000"/>
            <a:ext cx="2880360" cy="12344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943600" y="117043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Kubernetes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035040" y="1572768"/>
            <a:ext cx="2697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Docker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small–medium clusters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194560" cy="530352"/>
          </a:xfrm>
          <a:prstGeom prst="roundRect">
            <a:avLst>
              <a:gd name="adj" fmla="val 17241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44752"/>
            <a:ext cx="0" cy="347472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792224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922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 (Public Subnets)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359152"/>
            <a:ext cx="0" cy="32004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679192"/>
            <a:ext cx="5120640" cy="713232"/>
          </a:xfrm>
          <a:prstGeom prst="roundRect">
            <a:avLst>
              <a:gd name="adj" fmla="val 12821"/>
            </a:avLst>
          </a:prstGeom>
          <a:solidFill>
            <a:srgbClr val="00838F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67919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 (Auto Scaling Group — Private Subnets)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3392424"/>
            <a:ext cx="0" cy="32004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712464"/>
            <a:ext cx="4389120" cy="713232"/>
          </a:xfrm>
          <a:prstGeom prst="roundRect">
            <a:avLst>
              <a:gd name="adj" fmla="val 12821"/>
            </a:avLst>
          </a:prstGeom>
          <a:solidFill>
            <a:srgbClr val="1A3A5C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371246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Nodes  ×3  (Public Subnets)  |  Raft Consensus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2679192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D3A4A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67919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3035808"/>
            <a:ext cx="-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040" y="1792224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2D3A4A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79222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2075688"/>
            <a:ext cx="3200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3712464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2D3A4A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71246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Policies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4069080"/>
            <a:ext cx="27432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 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21792" cy="107899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43584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modules/iam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87552" y="1627632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&amp; Worker IAM roles, policies, instance profiles. Secrets Manager secret for Swarm join tokens.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188720"/>
            <a:ext cx="621792" cy="107899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1243584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modules/security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22392" y="1627632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dedicated SGs: ALB (public 80/443), Manager (SSH + Swarm ports), Worker (ALB + Swarm only).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74320" y="24505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450592"/>
            <a:ext cx="621792" cy="10789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72491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552" y="2505456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modules/manager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87552" y="2889504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EC2 runs swarm init, writes tokens to Secrets Manager. Secondary managers join via stored token.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09160" y="245059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450592"/>
            <a:ext cx="621792" cy="107899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72491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2392" y="2505456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modules/load_balancer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422392" y="2889504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with HTTP→HTTPS redirect, Target Group with stickiness, S3 access logs, optional ACM cert.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274320" y="371246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3712464"/>
            <a:ext cx="621792" cy="1078992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3986784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" y="3767328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modules/workers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87552" y="4151376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+ Auto Scaling Group. CPU alarms (75%↑ / 25%↓). Rolling instance refresh on update.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09160" y="371246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09160" y="3712464"/>
            <a:ext cx="621792" cy="107899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3986784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22392" y="3767328"/>
            <a:ext cx="3355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modules/dns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22392" y="4151376"/>
            <a:ext cx="3355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A-alias record pointing to the ALB. Optional www subdomain. Skipped if no zone ID provided.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143000"/>
            <a:ext cx="2788920" cy="43891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SG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581912"/>
            <a:ext cx="278892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TCP  ← 0.0.0.0/0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" y="2048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 TCP ← 0.0.0.0/0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outbound →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74320" y="277977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Internet-facing only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27832" y="1143000"/>
            <a:ext cx="278892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27832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27832" y="1581912"/>
            <a:ext cx="2788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37560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TCP  ← allowed_cidr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337560" y="2048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2377 TCP ← VPC CIDR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37560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7946 TCP/UDP ← VPC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37560" y="28163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4789 UDP ← VPC (VXLAN)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37560" y="32004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2376 TCP ← VPC (API)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27832" y="354787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IMDSv2 enforced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81344" y="1143000"/>
            <a:ext cx="278892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81344" y="114300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81344" y="1581912"/>
            <a:ext cx="2788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80/8080 TCP ← ALB SG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291072" y="204825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TCP ← Manager SG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91072" y="24323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2377 TCP ← Manager SG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291072" y="281635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7946 TCP/UDP ← VPC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291072" y="320040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4789 UDP ← VPC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181344" y="354787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No public IPs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11480" y="38587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</a:t>
            </a:r>
            <a:endParaRPr lang="en-US" sz="12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224528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8368" y="42062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Secrets Manager read+write, EC2 describe, ECR pull, SSM, CloudWatch</a:t>
            </a:r>
            <a:endParaRPr lang="en-US" sz="9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498848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8368" y="44805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Workers: Secrets Manager read-only, EC2 describe, ECR pull, SSM, CloudWatch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773168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58368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stores Swarm join tokens — no token in AMI or user-data plaintext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&amp; High Availability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1148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High Availability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64208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managers → tolerates 1 failure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11096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18928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consensus — quorum = (N+1)/2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5798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primary inits, 2 join as managers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04872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0080" y="23865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stored in Secrets Manager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65176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0080" y="2633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public subnets / AZs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754880" y="11430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B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754880" y="1143000"/>
            <a:ext cx="41148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4754880" y="1143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Auto Scaling (ASG)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664208"/>
            <a:ext cx="164592" cy="16459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2064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Min/desired/max: 2 / 3 / 10 (configurable)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911096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120640" y="18928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OUT: CPU ≥ 75% for 4 min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157984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120640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IN:  CPU ≤ 25% for 4 min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404872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20640" y="23865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refresh on Launch Template update</a:t>
            </a:r>
            <a:endParaRPr lang="en-US" sz="10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2651760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120640" y="2633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health checks (grace period 300s)</a:t>
            </a:r>
            <a:endParaRPr lang="en-US" sz="10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74320" y="3246120"/>
          <a:ext cx="85953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26187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0" cy="30175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1508760"/>
            <a:ext cx="4572000" cy="31089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0876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terraform.tfvars.example terraform.tfvars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1225296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key_name, allowed_cidr, region. Optional: cert ARN, hosted zone, domain.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02082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0" cy="30175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0025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" y="2267712"/>
            <a:ext cx="4572000" cy="31089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26771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984248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AWS provider (~5.x), sets up backend state, links all modules.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779776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36976"/>
            <a:ext cx="0" cy="30175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761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" y="3026664"/>
            <a:ext cx="4572000" cy="31089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02666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plan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0" y="2743200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~60 resources. Verify VPC CIDR, AZ count, manager/worker counts.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3872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95928"/>
            <a:ext cx="0" cy="301752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" y="3785616"/>
            <a:ext cx="4572000" cy="31089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785616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apply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502152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min. Managers boot → init Swarm → publish tokens → workers auto-join.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429768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" y="42793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Service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4672" y="4544568"/>
            <a:ext cx="4572000" cy="310896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4544568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service create --replicas 3 nginx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4261104"/>
            <a:ext cx="3337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primary manager. Deploy any Docker service — it spreads across workers.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Outputs &amp; What You 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1430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9047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904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alb_dns_name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14904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DNS of ALB (use immediately without DNS record)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384048"/>
          </a:xfrm>
          <a:prstGeom prst="rect">
            <a:avLst/>
          </a:prstGeom>
          <a:solidFill>
            <a:srgbClr val="E3EBF6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swarm_url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0" y="18745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https://swarm.example.com  or  http://&lt;alb-dns&gt;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585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manager_instance_ids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22585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IDs for all 3 manager nodes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8595360" cy="384048"/>
          </a:xfrm>
          <a:prstGeom prst="rect">
            <a:avLst/>
          </a:prstGeom>
          <a:solidFill>
            <a:srgbClr val="E3EBF6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4261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manager_primary_private_ip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0" y="264261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jump target for worker access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02666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26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worker_asg_name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0" y="302666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name for manual scaling / instance refresh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10712"/>
            <a:ext cx="8595360" cy="384048"/>
          </a:xfrm>
          <a:prstGeom prst="rect">
            <a:avLst/>
          </a:prstGeom>
          <a:solidFill>
            <a:srgbClr val="E3EBF6"/>
          </a:solidFill>
          <a:ln w="12700">
            <a:solidFill>
              <a:srgbClr val="E3EB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107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swarm_token_secret_arn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31920" y="341071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ARN — inspect or rotate tokens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947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manager_iam_role_arn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31920" y="37947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 for audit / cross-account trust policies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74320" y="422452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terraform output  after apply to view all values.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5486400" y="54864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02920" y="24871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6 modular Terraform components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8620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Least-privilege IAM with Secrets Manager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2369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3-manager HA quorum + worker ASG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ALB, Target Group, Route 53 DNS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9867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IMDSv2, private workers, encrypted EBS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66344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github.com/your-org/docker-swarm-terraform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— Docker Swarm on Terraform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·  ALB  ·  Manager Nodes  ·  Worker ASG  ·  IAM  ·  Secrets Manager  ·  Route 53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749040" y="658368"/>
            <a:ext cx="1645920" cy="457200"/>
          </a:xfrm>
          <a:prstGeom prst="rect">
            <a:avLst>
              <a:gd name="adj" fmla="val 12000"/>
            </a:avLst>
          </a:prstGeom>
          <a:solidFill>
            <a:srgbClr val="0A2540"/>
          </a:solidFill>
          <a:ln w="6350">
            <a:solidFill>
              <a:srgbClr val="37474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280160" cy="457200"/>
          </a:xfrm>
          <a:prstGeom prst="rect">
            <a:avLst>
              <a:gd name="adj" fmla="val 12000"/>
            </a:avLst>
          </a:prstGeom>
          <a:solidFill>
            <a:srgbClr val="2D0D4F"/>
          </a:solidFill>
          <a:ln w="6350">
            <a:solidFill>
              <a:srgbClr val="7B1F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6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A-alias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589520" y="658368"/>
            <a:ext cx="1280160" cy="457200"/>
          </a:xfrm>
          <a:prstGeom prst="rect">
            <a:avLst>
              <a:gd name="adj" fmla="val 12000"/>
            </a:avLst>
          </a:prstGeom>
          <a:solidFill>
            <a:srgbClr val="0D2A0D"/>
          </a:solidFill>
          <a:ln w="6350">
            <a:solidFill>
              <a:srgbClr val="2E7D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cert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" y="1207008"/>
            <a:ext cx="8814816" cy="3730752"/>
          </a:xfrm>
          <a:prstGeom prst="roundRect">
            <a:avLst>
              <a:gd name="adj" fmla="val 1961"/>
            </a:avLst>
          </a:prstGeom>
          <a:solidFill>
            <a:srgbClr val="1565C0">
              <a:alpha val="8000"/>
            </a:srgbClr>
          </a:solidFill>
          <a:ln w="7620">
            <a:solidFill>
              <a:srgbClr val="1976D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19456" y="1243584"/>
            <a:ext cx="87233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10.0.0.0/16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37744" y="1316736"/>
            <a:ext cx="8668512" cy="1060704"/>
          </a:xfrm>
          <a:prstGeom prst="roundRect">
            <a:avLst>
              <a:gd name="adj" fmla="val 6897"/>
            </a:avLst>
          </a:prstGeom>
          <a:solidFill>
            <a:srgbClr val="1565C0">
              <a:alpha val="8000"/>
            </a:srgbClr>
          </a:solidFill>
          <a:ln w="7620">
            <a:solidFill>
              <a:srgbClr val="1976D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292608" y="1353312"/>
            <a:ext cx="8577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 (us-east-1a · us-east-1b)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29184" y="1481328"/>
            <a:ext cx="1188720" cy="731520"/>
          </a:xfrm>
          <a:prstGeom prst="rect">
            <a:avLst>
              <a:gd name="adj" fmla="val 7500"/>
            </a:avLst>
          </a:prstGeom>
          <a:solidFill>
            <a:srgbClr val="0D2A5A"/>
          </a:solidFill>
          <a:ln w="6350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 (per AZ)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626096" y="1481328"/>
            <a:ext cx="1188720" cy="731520"/>
          </a:xfrm>
          <a:prstGeom prst="rect">
            <a:avLst>
              <a:gd name="adj" fmla="val 7500"/>
            </a:avLst>
          </a:prstGeom>
          <a:solidFill>
            <a:srgbClr val="0D2A5A"/>
          </a:solidFill>
          <a:ln w="6350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GW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7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664208" y="1481328"/>
            <a:ext cx="5815584" cy="731520"/>
          </a:xfrm>
          <a:prstGeom prst="rect">
            <a:avLst>
              <a:gd name="adj" fmla="val 7500"/>
            </a:avLst>
          </a:prstGeom>
          <a:solidFill>
            <a:srgbClr val="005F69"/>
          </a:solidFill>
          <a:ln w="6350">
            <a:solidFill>
              <a:srgbClr val="00BCD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0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HTTP:80 → HTTPS:443 redirect  ·  Target Group (port 80)  ·  ELB health checks  ·  S3 access 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7744" y="2468880"/>
            <a:ext cx="8668512" cy="1188720"/>
          </a:xfrm>
          <a:prstGeom prst="roundRect">
            <a:avLst>
              <a:gd name="adj" fmla="val 6154"/>
            </a:avLst>
          </a:prstGeom>
          <a:solidFill>
            <a:srgbClr val="1B5E20">
              <a:alpha val="8000"/>
            </a:srgbClr>
          </a:solidFill>
          <a:ln w="7620">
            <a:solidFill>
              <a:srgbClr val="2E7D3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92608" y="2505456"/>
            <a:ext cx="8577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— Worker tier  (us-east-1a · us-east-1b)  ·  ASG min:2  desired:3  max:10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1371600" cy="822960"/>
          </a:xfrm>
          <a:prstGeom prst="rect">
            <a:avLst>
              <a:gd name="adj" fmla="val 6667"/>
            </a:avLst>
          </a:prstGeom>
          <a:solidFill>
            <a:srgbClr val="2A1500"/>
          </a:solidFill>
          <a:ln w="6350">
            <a:solidFill>
              <a:srgbClr val="FF6D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t3.large · AZ-1a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2651760"/>
            <a:ext cx="1371600" cy="822960"/>
          </a:xfrm>
          <a:prstGeom prst="rect">
            <a:avLst>
              <a:gd name="adj" fmla="val 6667"/>
            </a:avLst>
          </a:prstGeom>
          <a:solidFill>
            <a:srgbClr val="2A1500"/>
          </a:solidFill>
          <a:ln w="6350">
            <a:solidFill>
              <a:srgbClr val="FF6D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t3.large · AZ-1b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74720" y="2651760"/>
            <a:ext cx="1371600" cy="822960"/>
          </a:xfrm>
          <a:prstGeom prst="rect">
            <a:avLst>
              <a:gd name="adj" fmla="val 6667"/>
            </a:avLst>
          </a:prstGeom>
          <a:solidFill>
            <a:srgbClr val="221000"/>
          </a:solidFill>
          <a:ln w="6350">
            <a:solidFill>
              <a:srgbClr val="E651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 ×N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nodes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auto-scale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1554480" cy="822960"/>
          </a:xfrm>
          <a:prstGeom prst="rect">
            <a:avLst>
              <a:gd name="adj" fmla="val 6667"/>
            </a:avLst>
          </a:prstGeom>
          <a:solidFill>
            <a:srgbClr val="1A0D00"/>
          </a:solidFill>
          <a:ln w="6350">
            <a:solidFill>
              <a:srgbClr val="BF360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AB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gp3 EBS · IMDSv2</a:t>
            </a:r>
            <a:endParaRPr lang="en-US" sz="7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refresh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66560" y="2651760"/>
            <a:ext cx="1463040" cy="384048"/>
          </a:xfrm>
          <a:prstGeom prst="rect">
            <a:avLst>
              <a:gd name="adj" fmla="val 14286"/>
            </a:avLst>
          </a:prstGeom>
          <a:solidFill>
            <a:srgbClr val="2D1200"/>
          </a:solidFill>
          <a:ln w="6350">
            <a:solidFill>
              <a:srgbClr val="E651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≥75% scale-out  ≤25% scale-in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766560" y="3090672"/>
            <a:ext cx="1463040" cy="384048"/>
          </a:xfrm>
          <a:prstGeom prst="rect">
            <a:avLst>
              <a:gd name="adj" fmla="val 14286"/>
            </a:avLst>
          </a:prstGeom>
          <a:solidFill>
            <a:srgbClr val="2D1200"/>
          </a:solidFill>
          <a:ln w="6350">
            <a:solidFill>
              <a:srgbClr val="F57C0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logs · 90d TTL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7744" y="3730752"/>
            <a:ext cx="8668512" cy="1097280"/>
          </a:xfrm>
          <a:prstGeom prst="roundRect">
            <a:avLst>
              <a:gd name="adj" fmla="val 6667"/>
            </a:avLst>
          </a:prstGeom>
          <a:solidFill>
            <a:srgbClr val="1565C0">
              <a:alpha val="8000"/>
            </a:srgbClr>
          </a:solidFill>
          <a:ln w="7620">
            <a:solidFill>
              <a:srgbClr val="1976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92608" y="3767328"/>
            <a:ext cx="8577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— Manager tier  (us-east-1a · us-east-1b · us-east-1c)  ·  Raft consensus  ·  SG: 2377 · 7946 · 4789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3895344"/>
            <a:ext cx="1828800" cy="822960"/>
          </a:xfrm>
          <a:prstGeom prst="rect">
            <a:avLst>
              <a:gd name="adj" fmla="val 6667"/>
            </a:avLst>
          </a:prstGeom>
          <a:solidFill>
            <a:srgbClr val="0A1E3A"/>
          </a:solidFill>
          <a:ln w="6350">
            <a:solidFill>
              <a:srgbClr val="1976D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(primary)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 · AZ-1a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init · writes tokens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0" y="3895344"/>
            <a:ext cx="1828800" cy="822960"/>
          </a:xfrm>
          <a:prstGeom prst="rect">
            <a:avLst>
              <a:gd name="adj" fmla="val 6667"/>
            </a:avLst>
          </a:prstGeom>
          <a:solidFill>
            <a:srgbClr val="0A1E3A"/>
          </a:solidFill>
          <a:ln w="6350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×2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AZ-1b · AZ-1c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8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join via token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94560" y="4315968"/>
            <a:ext cx="182880" cy="0"/>
          </a:xfrm>
          <a:prstGeom prst="line">
            <a:avLst/>
          </a:prstGeom>
          <a:noFill/>
          <a:ln w="10160">
            <a:solidFill>
              <a:srgbClr val="42A5F5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1645920" y="4389120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 Raft ─▶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389120" y="3895344"/>
            <a:ext cx="1828800" cy="822960"/>
          </a:xfrm>
          <a:prstGeom prst="rect">
            <a:avLst>
              <a:gd name="adj" fmla="val 6667"/>
            </a:avLst>
          </a:prstGeom>
          <a:solidFill>
            <a:srgbClr val="1B0D2A"/>
          </a:solidFill>
          <a:ln w="6350">
            <a:solidFill>
              <a:srgbClr val="7B1F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6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join tokens</a:t>
            </a:r>
            <a:endParaRPr lang="en-US" sz="8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C6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+ worker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3895344"/>
            <a:ext cx="2468880" cy="384048"/>
          </a:xfrm>
          <a:prstGeom prst="rect">
            <a:avLst>
              <a:gd name="adj" fmla="val 14286"/>
            </a:avLst>
          </a:prstGeom>
          <a:solidFill>
            <a:srgbClr val="0D1F0D"/>
          </a:solidFill>
          <a:ln w="6350">
            <a:solidFill>
              <a:srgbClr val="388E3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— Manager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R/W · EC2 · ECR · SSM · CloudWatch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00800" y="4334256"/>
            <a:ext cx="2468880" cy="384048"/>
          </a:xfrm>
          <a:prstGeom prst="rect">
            <a:avLst>
              <a:gd name="adj" fmla="val 14286"/>
            </a:avLst>
          </a:prstGeom>
          <a:solidFill>
            <a:srgbClr val="0D1F0D"/>
          </a:solidFill>
          <a:ln w="6350">
            <a:solidFill>
              <a:srgbClr val="2E7D3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— Worker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read · EC2 · ECR · SSM · CloudWatch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572000" y="1115568"/>
            <a:ext cx="0" cy="365760"/>
          </a:xfrm>
          <a:prstGeom prst="line">
            <a:avLst/>
          </a:prstGeom>
          <a:noFill/>
          <a:ln w="12700">
            <a:solidFill>
              <a:srgbClr val="80DEE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" y="1115568"/>
            <a:ext cx="1280160" cy="365760"/>
          </a:xfrm>
          <a:prstGeom prst="line">
            <a:avLst/>
          </a:prstGeom>
          <a:noFill/>
          <a:ln w="8890">
            <a:solidFill>
              <a:srgbClr val="CE93D8"/>
            </a:solidFill>
            <a:prstDash val="sysDash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0" y="1115568"/>
            <a:ext cx="-548640" cy="365760"/>
          </a:xfrm>
          <a:prstGeom prst="line">
            <a:avLst/>
          </a:prstGeom>
          <a:noFill/>
          <a:ln w="8890">
            <a:solidFill>
              <a:srgbClr val="A5D6A7"/>
            </a:solidFill>
            <a:prstDash val="sys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200400" y="2212848"/>
            <a:ext cx="-1691640" cy="438912"/>
          </a:xfrm>
          <a:prstGeom prst="line">
            <a:avLst/>
          </a:prstGeom>
          <a:noFill/>
          <a:ln w="10160">
            <a:solidFill>
              <a:srgbClr val="80DEE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114800" y="2212848"/>
            <a:ext cx="0" cy="438912"/>
          </a:xfrm>
          <a:prstGeom prst="line">
            <a:avLst/>
          </a:prstGeom>
          <a:noFill/>
          <a:ln w="10160">
            <a:solidFill>
              <a:srgbClr val="80DEE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51560" y="3474720"/>
            <a:ext cx="0" cy="420624"/>
          </a:xfrm>
          <a:prstGeom prst="line">
            <a:avLst/>
          </a:prstGeom>
          <a:noFill/>
          <a:ln w="8890">
            <a:solidFill>
              <a:srgbClr val="1976D2"/>
            </a:solidFill>
            <a:prstDash val="sysDash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606040" y="3474720"/>
            <a:ext cx="0" cy="420624"/>
          </a:xfrm>
          <a:prstGeom prst="line">
            <a:avLst/>
          </a:prstGeom>
          <a:noFill/>
          <a:ln w="8890">
            <a:solidFill>
              <a:srgbClr val="1976D2"/>
            </a:solidFill>
            <a:prstDash val="sys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194560" y="4315968"/>
            <a:ext cx="2194560" cy="0"/>
          </a:xfrm>
          <a:prstGeom prst="line">
            <a:avLst/>
          </a:prstGeom>
          <a:noFill/>
          <a:ln w="8890">
            <a:solidFill>
              <a:srgbClr val="CE93D8"/>
            </a:solidFill>
            <a:prstDash val="sys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246120" y="3063240"/>
            <a:ext cx="1920240" cy="832104"/>
          </a:xfrm>
          <a:prstGeom prst="line">
            <a:avLst/>
          </a:prstGeom>
          <a:noFill/>
          <a:ln w="7620">
            <a:solidFill>
              <a:srgbClr val="9C66AB"/>
            </a:solidFill>
            <a:prstDash val="sysDot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554480" y="886968"/>
            <a:ext cx="2194560" cy="0"/>
          </a:xfrm>
          <a:prstGeom prst="line">
            <a:avLst/>
          </a:prstGeom>
          <a:noFill/>
          <a:ln w="8890">
            <a:solidFill>
              <a:srgbClr val="CE93D8"/>
            </a:solidFill>
            <a:prstDash val="sys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103120" y="804672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4320" y="4919472"/>
            <a:ext cx="164592" cy="109728"/>
          </a:xfrm>
          <a:prstGeom prst="rect">
            <a:avLst/>
          </a:prstGeom>
          <a:solidFill>
            <a:srgbClr val="80DEEA"/>
          </a:solidFill>
          <a:ln w="12700">
            <a:solidFill>
              <a:srgbClr val="80DE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49011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965960" y="4919472"/>
            <a:ext cx="164592" cy="10972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67128" y="49011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cert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657600" y="4919472"/>
            <a:ext cx="164592" cy="109728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9011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mgmt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349240" y="4919472"/>
            <a:ext cx="164592" cy="109728"/>
          </a:xfrm>
          <a:prstGeom prst="rect">
            <a:avLst/>
          </a:prstGeom>
          <a:solidFill>
            <a:srgbClr val="9C66AB"/>
          </a:solidFill>
          <a:ln w="12700">
            <a:solidFill>
              <a:srgbClr val="9C66A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50408" y="49011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fetch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040880" y="4919472"/>
            <a:ext cx="164592" cy="109728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42048" y="4901184"/>
            <a:ext cx="1371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is and the 3 core ideas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932688"/>
          </a:xfrm>
          <a:prstGeom prst="roundRect">
            <a:avLst>
              <a:gd name="adj" fmla="val 6863"/>
            </a:avLst>
          </a:prstGeom>
          <a:solidFill>
            <a:srgbClr val="EBF4FF"/>
          </a:solidFill>
          <a:ln w="6350">
            <a:solidFill>
              <a:srgbClr val="90C2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a config file into a complete, production-ready container platform on AWS — automatically.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59152"/>
            <a:ext cx="274320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35608" y="2487168"/>
            <a:ext cx="420624" cy="42062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60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9809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Swarm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3328416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engine. Manager nodes control the cluster; worker nodes run your containers. Built-in to Docker — no extra tools needed.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359152"/>
            <a:ext cx="274320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1688" y="2487168"/>
            <a:ext cx="420624" cy="420624"/>
          </a:xfrm>
          <a:prstGeom prst="ellipse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29809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28416" y="3328416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platform. EC2 servers, a load balancer, private networking, DNS, secrets vault — all managed services.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359152"/>
            <a:ext cx="2743200" cy="25146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87768" y="2487168"/>
            <a:ext cx="420624" cy="420624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87768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98094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3328416"/>
            <a:ext cx="248716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automation layer. Describes every AWS resource as code. One command creates everything; another tears it all down.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one config file → run terraform apply → get a live cluster in ~5 minutes.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Built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from internet to containers · every AWS resource created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6187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(users)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8288" cy="21945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6537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56816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568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— DNS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432304"/>
            <a:ext cx="18288" cy="21945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56032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51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127248"/>
            <a:ext cx="18288" cy="21945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25526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46704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467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(your app)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822192"/>
            <a:ext cx="18288" cy="219456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5020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04164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04164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nodes (control)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1261872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0" y="1417320"/>
            <a:ext cx="329184" cy="32918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77056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10.0.0.0/16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77056" y="1591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private network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26480" y="1261872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417320"/>
            <a:ext cx="329184" cy="32918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0256" y="13167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0256" y="1591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public traffic 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2029968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0" y="2185416"/>
            <a:ext cx="329184" cy="32918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77056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×2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77056" y="2359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reach internet out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126480" y="2029968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2185416"/>
            <a:ext cx="329184" cy="32918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20256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Target Group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620256" y="23591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&amp; health-checks traffic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83280" y="2798064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0" y="295351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👑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877056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EC2 ×3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77056" y="3127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t3.medium, Raft quorum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2798064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17920" y="2953512"/>
            <a:ext cx="329184" cy="32918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953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20256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ASG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620256" y="31272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t3.large, min 2 max 10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83280" y="3566160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474720" y="3721608"/>
            <a:ext cx="329184" cy="329184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7472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🔑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877056" y="3621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877056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join tokens (encrypted)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26480" y="3566160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17920" y="3721608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🛡️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620256" y="3621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×2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620256" y="38953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permissions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383280" y="4334256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474720" y="4489704"/>
            <a:ext cx="329184" cy="329184"/>
          </a:xfrm>
          <a:prstGeom prst="ellipse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877056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877056" y="4663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scale-out / scale-in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126480" y="4334256"/>
            <a:ext cx="257860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4489704"/>
            <a:ext cx="329184" cy="329184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🌍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6620256" y="4389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Record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620256" y="46634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alias to the ALB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boot sequence — how the cluster assembles itself automatically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2336" y="1609344"/>
            <a:ext cx="420624" cy="42062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37160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networking created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71907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Subnets, NAT gateways, internet gateway, route tables — the underlying plumbing of the cluster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53288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2843784"/>
            <a:ext cx="420624" cy="42062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60604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created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95351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sets for managers and workers to securely talk to AWS services (Secrets Manager, ECR, CloudWatch)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76732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" y="4078224"/>
            <a:ext cx="420624" cy="420624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84048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created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418795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defining who can talk to what on which ports — ALB, manager, and worker tiers each get their own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29844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1609344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609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137160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manager boots → docker swarm init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171907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is born. Manager writes the join tokens (passwords) into AWS Secrets Manager for other nodes to fetch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53288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2843784"/>
            <a:ext cx="420624" cy="420624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260604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managers + workers boot → join cluster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1808" y="295351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poll Secrets Manager, fetch their token, run docker swarm join, and register with the primary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767328"/>
            <a:ext cx="42062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91456" y="4078224"/>
            <a:ext cx="420624" cy="420624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4078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3840480"/>
            <a:ext cx="3438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+ DNS come online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4187952"/>
            <a:ext cx="34381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register in the target group. DNS record points your domain at the ALB. Traffic can now reach the cluster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apply completes (~5 min)  →  cluster is live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self-contained modules — each owns one concern, independently changeable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modules/iam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5331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533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Manager + Worker IAM roles with least-privilege policies. Also creates the Secrets Manager secret that holds Swarm join tokens. Managers can read+write; workers read-only.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9844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53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modules/security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35240" y="135331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35331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83480" y="164592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security groups: ALB (public 80/443), Manager (SSH + Swarm ports 2377/7946/4789), Worker (port 80 from ALB only, Swarm ports from managers only). Workers have no public IPs.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53288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3288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modules/manager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58775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5877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48640" y="288036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3 EC2 manager instances. Primary runs docker swarm init and writes tokens to Secrets Manager. Secondaries poll for the token and join as managers via docker swarm join.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53288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53288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modules/load_balancer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258775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258775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83480" y="288036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with HTTP→HTTPS redirect, target group on port 80, ELB health checks, sticky sessions, and S3 access log bucket. ACM certificate attaches if you provide one.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6732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6732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modules/workers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82219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382219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8640" y="411480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Template + Auto Scaling Group. CPU ≥75% scale-out; CPU ≤25% scale-in. Rolling instance refresh on template updates. Workers auto-register in the target group on boot.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3767328"/>
            <a:ext cx="42062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67328"/>
            <a:ext cx="201168" cy="1097280"/>
          </a:xfrm>
          <a:prstGeom prst="roundRect">
            <a:avLst>
              <a:gd name="adj" fmla="val 31818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modules/dns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35240" y="3822192"/>
            <a:ext cx="1078992" cy="237744"/>
          </a:xfrm>
          <a:prstGeom prst="roundRect">
            <a:avLst>
              <a:gd name="adj" fmla="val 23077"/>
            </a:avLst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822192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83480" y="411480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A-alias record pointing your domain at the ALB. Optional www subdomain. Skipped entirely if you don't supply a hosted zone ID — you just use the ALB URL directly.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Deploy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commands from zero to a running cluster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377440" cy="3364992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353312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" y="1719072"/>
            <a:ext cx="2084832" cy="438912"/>
          </a:xfrm>
          <a:prstGeom prst="rect">
            <a:avLst/>
          </a:prstGeom>
          <a:solidFill>
            <a:srgbClr val="F5F9FF"/>
          </a:solidFill>
          <a:ln w="6350">
            <a:solidFill>
              <a:srgbClr val="E3EB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755648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938528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2231136"/>
            <a:ext cx="2084832" cy="438912"/>
          </a:xfrm>
          <a:prstGeom prst="rect">
            <a:avLst/>
          </a:prstGeom>
          <a:solidFill>
            <a:srgbClr val="F5F9FF"/>
          </a:solidFill>
          <a:ln w="6350">
            <a:solidFill>
              <a:srgbClr val="E3EB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67712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50592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2743200"/>
            <a:ext cx="2084832" cy="438912"/>
          </a:xfrm>
          <a:prstGeom prst="rect">
            <a:avLst/>
          </a:prstGeom>
          <a:solidFill>
            <a:srgbClr val="F5F9FF"/>
          </a:solidFill>
          <a:ln w="6350">
            <a:solidFill>
              <a:srgbClr val="E3EB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79776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Key Pair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62656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AWS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3255264"/>
            <a:ext cx="2084832" cy="438912"/>
          </a:xfrm>
          <a:prstGeom prst="rect">
            <a:avLst/>
          </a:prstGeom>
          <a:solidFill>
            <a:srgbClr val="F5F9FF"/>
          </a:solidFill>
          <a:ln w="6350">
            <a:solidFill>
              <a:srgbClr val="E3EB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91840"/>
            <a:ext cx="19751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access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474720"/>
            <a:ext cx="1975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AWS account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3840480"/>
            <a:ext cx="2084832" cy="603504"/>
          </a:xfrm>
          <a:prstGeom prst="roundRect">
            <a:avLst>
              <a:gd name="adj" fmla="val 1212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84048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20624" y="41696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deploy time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834640" y="1261872"/>
            <a:ext cx="6035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926080" y="1444752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28416" y="1298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28416" y="1572768"/>
            <a:ext cx="3310128" cy="27432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1572768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terraform.tfvars.example terraform.tfvars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29984" y="1316736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key_name and allowed_cidr (your IP). Optionally add cert ARN, hosted zone, domain.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4640" y="2029968"/>
            <a:ext cx="6035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0" y="2212848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28416" y="20665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28416" y="2340864"/>
            <a:ext cx="3310128" cy="27432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234086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29984" y="2084832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AWS provider (~5.x), links all 6 modules, prepares local state.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834640" y="2798064"/>
            <a:ext cx="6035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26080" y="2980944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28416" y="28346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28416" y="3108960"/>
            <a:ext cx="3310128" cy="27432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28416" y="310896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plan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29984" y="2852928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~60 resources to be created. Check AZ count, CIDR, manager and worker counts.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34640" y="3566160"/>
            <a:ext cx="6035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0" y="3749040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328416" y="3602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328416" y="3877056"/>
            <a:ext cx="3310128" cy="27432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28416" y="3877056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apply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29984" y="3621024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everything. Managers boot, init Swarm, publish tokens, workers auto-join.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834640" y="4334256"/>
            <a:ext cx="60350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926080" y="4517136"/>
            <a:ext cx="329184" cy="32918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328416" y="43708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service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328416" y="4645152"/>
            <a:ext cx="3310128" cy="274320"/>
          </a:xfrm>
          <a:prstGeom prst="roundRect">
            <a:avLst>
              <a:gd name="adj" fmla="val 16667"/>
            </a:avLst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28416" y="4645152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service create --replicas 3 nginx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29984" y="4389120"/>
            <a:ext cx="204825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the primary manager. Deploy any Docker image — it spreads across workers.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reach what · secrets management · hardening measures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3350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reach what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" y="176479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700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Load Balancer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1865376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&amp; 443 only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211226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04825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→ Managers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" y="2212848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port 22, your IP only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245973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395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→ Workers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560320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only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" y="2807208"/>
            <a:ext cx="128016" cy="128016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743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Workers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" y="2907792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no public IPs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3154680"/>
            <a:ext cx="128016" cy="128016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090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Managers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" y="3255264"/>
            <a:ext cx="2286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ports blocked except 22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0" y="1261872"/>
            <a:ext cx="274320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46704" y="13350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28416" y="17190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39312" y="173736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manager boots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56432" y="1975104"/>
            <a:ext cx="18288" cy="73152"/>
          </a:xfrm>
          <a:prstGeom prst="rect">
            <a:avLst/>
          </a:prstGeom>
          <a:noFill/>
          <a:ln w="10160">
            <a:solidFill>
              <a:srgbClr val="90A4A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0482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39312" y="206654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docker swarm init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56432" y="2304288"/>
            <a:ext cx="18288" cy="73152"/>
          </a:xfrm>
          <a:prstGeom prst="rect">
            <a:avLst/>
          </a:prstGeom>
          <a:noFill/>
          <a:ln w="10160">
            <a:solidFill>
              <a:srgbClr val="90A4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23774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39312" y="239572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tokens to Secrets Manager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56432" y="2633472"/>
            <a:ext cx="18288" cy="73152"/>
          </a:xfrm>
          <a:prstGeom prst="rect">
            <a:avLst/>
          </a:prstGeom>
          <a:noFill/>
          <a:ln w="10160">
            <a:solidFill>
              <a:srgbClr val="90A4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2706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39312" y="272491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managers + workers poll secret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56432" y="2962656"/>
            <a:ext cx="18288" cy="73152"/>
          </a:xfrm>
          <a:prstGeom prst="rect">
            <a:avLst/>
          </a:prstGeom>
          <a:noFill/>
          <a:ln w="10160">
            <a:solidFill>
              <a:srgbClr val="90A4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303580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39312" y="3054096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token and join Swarm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1261872"/>
            <a:ext cx="2743200" cy="2267712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72784" y="13350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72784" y="1682496"/>
            <a:ext cx="2450592" cy="512064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1682496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role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2784" y="190195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R/W · EC2 describe · ECR pull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Session Manager · CloudWatch logs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272784" y="2304288"/>
            <a:ext cx="2450592" cy="512064"/>
          </a:xfrm>
          <a:prstGeom prst="roundRect">
            <a:avLst>
              <a:gd name="adj" fmla="val 125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72784" y="2304288"/>
            <a:ext cx="2450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role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72784" y="252374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read-only · EC2 describe · ECR pull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80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Session Manager · CloudWatch logs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72784" y="2889504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cannot write secrets. Neither role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EC2 or modify networking.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621024"/>
            <a:ext cx="8595360" cy="1481328"/>
          </a:xfrm>
          <a:prstGeom prst="roundRect">
            <a:avLst>
              <a:gd name="adj" fmla="val 4321"/>
            </a:avLst>
          </a:prstGeom>
          <a:solidFill>
            <a:srgbClr val="F5F5F5"/>
          </a:solidFill>
          <a:ln w="6350">
            <a:solidFill>
              <a:srgbClr val="E3EB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20624" y="369417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measures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20624" y="39867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★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4944" y="4023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enforced on all EC2 instances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1840" y="39867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■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566160" y="4023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gp3 EBS volumes on every node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63056" y="39867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→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37376" y="4023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 private subnets — no public IP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20624" y="44439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■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4944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HTTPS-only with ACM certificate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291840" y="44439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■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566160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access logs in private S3 bucket (90-day TTL)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163056" y="4443984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■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437376" y="44805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Session Manager — no open SSH required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Swarm on AWS with Terraform</dc:title>
  <dc:subject>PptxGenJS Presentation</dc:subject>
  <dc:creator>DevOps Architecture</dc:creator>
  <cp:lastModifiedBy>DevOps Architecture</cp:lastModifiedBy>
  <cp:revision>1</cp:revision>
  <dcterms:created xsi:type="dcterms:W3CDTF">2026-05-31T16:28:17Z</dcterms:created>
  <dcterms:modified xsi:type="dcterms:W3CDTF">2026-05-31T16:28:17Z</dcterms:modified>
</cp:coreProperties>
</file>